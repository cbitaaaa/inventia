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71" r:id="rId20"/>
    <p:sldId id="259" r:id="rId8"/>
    <p:sldId id="260" r:id="rId9"/>
    <p:sldId id="261" r:id="rId10"/>
    <p:sldId id="270" r:id="rId19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9" Type="http://schemas.openxmlformats.org/officeDocument/2006/relationships/slide" Target="slides/slide15.xml"/>
  <Relationship Id="rId20" Type="http://schemas.openxmlformats.org/officeDocument/2006/relationships/slide" Target="slides/slide1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Portada. InventIA es el mismo proyecto de la Fase 1 original, ahora con el cliente objetivo definido por el estudio de mercado: agroindustria frutícola del corredor Rancagua-Talca.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040880" y="-1188720"/>
            <a:ext cx="3291840" cy="32918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38160" y="3108960"/>
            <a:ext cx="1920240" cy="19202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11480" y="91440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A86B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DEFINICIÓN DE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11480" y="1207008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InventIA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11480" y="1938528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C9DCBB"/>
                </a:solidFill>
                <a:latin typeface="Cambria"/>
                <a:ea typeface="Cambria"/>
                <a:cs typeface="Cambria"/>
                <a:sym typeface="Cambria"/>
              </a:rPr>
              <a:t>Predicción de demanda por temporada para agroindustria exportadora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411480" y="2450592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BFD4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FD4C4"/>
                </a:solidFill>
                <a:latin typeface="Calibri"/>
                <a:ea typeface="Calibri"/>
                <a:cs typeface="Calibri"/>
                <a:sym typeface="Calibri"/>
              </a:rPr>
              <a:t>Control de inventario en tiempo real y previsión de reposición por temporada, sobre una arquitectura 100% cloud-native desplegada en la cuenta del propio cliente.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11480" y="331012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Sebastian Guajardo   ·   Andy Madrid   ·   Ariel Osorio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11480" y="3566160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3A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CB3A3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·  Sede Plaza Norte  ·  Duoc 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El problema que resolvemos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Los packings y frigoríficos gestionan su bodega sin herramientas de previsión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11480" y="1298448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67512" y="1536192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667512" y="15361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463040" y="144475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Pérdidas por quiebre en temporada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463040" y="175564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Faltar un insumo crítico en plena cosecha detiene el packing, con impacto directo en la temporada de exportación completa.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2468880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67512" y="2706624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67512" y="2706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463040" y="261518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Sin visibilidad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463040" y="29260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No existe información actualizada del inventario de insumos críticos —bins, mallas, cajas— entre bodega y packing.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3639312"/>
            <a:ext cx="8321040" cy="1024128"/>
          </a:xfrm>
          <a:prstGeom prst="roundRect">
            <a:avLst>
              <a:gd fmla="val 535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67512" y="3877056"/>
            <a:ext cx="548640" cy="54864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667512" y="38770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463040" y="378561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Compras por intuición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463040" y="409651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Sin el historial de temporadas anteriores a la vista, la reposición se decide a ojo — y el mismo quiebre se repite cada año.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¿Qué estamos construyendo?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1005840"/>
            <a:ext cx="8321040" cy="914400"/>
          </a:xfrm>
          <a:prstGeom prst="roundRect">
            <a:avLst>
              <a:gd fmla="val 6000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731520" y="1170432"/>
            <a:ext cx="7680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plataforma web cloud-native (PWA) para controlar el stock de insumos en tiempo real y predecir la demanda por temporada mediante Machine Learning, anticipando quiebres antes de cada cosecha.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1148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42951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142951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9436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Gestión Web y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64008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PWA con Next.js, accesible desde cualquier dispositivo, con soporte offline parcial.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6136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27939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427939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44424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Predicción por Temporada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348996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Python (scikit-learn) sobre el historial de movimientos detecta estacionalidad y sugiere cuánto reponer y cuándo.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11240" y="2148840"/>
            <a:ext cx="2621280" cy="2331720"/>
          </a:xfrm>
          <a:prstGeom prst="roundRect">
            <a:avLst>
              <a:gd fmla="val 235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129272" y="2377440"/>
            <a:ext cx="585216" cy="58521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7129272" y="2377440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294120" y="3154680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Cloud del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6339840" y="3657600"/>
            <a:ext cx="216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Corre en la propia cuenta cloud del cliente — sin licencia recurrente y con bajo costo mensual.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¿Quién usa la plataforma?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Tres perfiles de usuario, cada uno con su propio nivel de acceso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1148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338072" y="1737360"/>
            <a:ext cx="768096" cy="7680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447800" y="1847088"/>
            <a:ext cx="548640" cy="548640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59436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Administradores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68580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Toman decisiones estratégicas apoyadas en la predicción por temporada, con control total del sistema.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6136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187952" y="1737360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297680" y="1847088"/>
            <a:ext cx="548640" cy="548640"/>
          </a:xfrm>
          <a:prstGeom prst="ellipse">
            <a:avLst/>
          </a:prstGeom>
          <a:solidFill>
            <a:srgbClr val="235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344424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Supervisores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353568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CE8D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CE8DF"/>
                </a:solidFill>
                <a:latin typeface="Calibri"/>
                <a:ea typeface="Calibri"/>
                <a:cs typeface="Calibri"/>
                <a:sym typeface="Calibri"/>
              </a:rPr>
              <a:t>Controlan la operación general mediante métricas y alertas de stock del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111240" y="1417320"/>
            <a:ext cx="2621280" cy="3063240"/>
          </a:xfrm>
          <a:prstGeom prst="roundRect">
            <a:avLst>
              <a:gd fmla="val 2093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037832" y="1737360"/>
            <a:ext cx="768096" cy="7680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147560" y="1847088"/>
            <a:ext cx="548640" cy="548640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6294120" y="2743200"/>
            <a:ext cx="225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Operadores de bodega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6385560" y="3200400"/>
            <a:ext cx="2072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Registran entradas y salidas de stock, y escanean productos directamente desde bodega.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CONCLUSIÓN DEL ESTUDIO DE MERCADO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 quién le vendemos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Corredor Rancagua – Talca: agroindustria frutícola, regiones de O'Higgins y Maule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148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59436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2.301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59436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empresas en el tramo objetivo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64008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 la zona, según datos SII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6136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344424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52–191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344424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trabajadores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tamaño del cliente ideal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111240" y="1371600"/>
            <a:ext cx="2621280" cy="1371600"/>
          </a:xfrm>
          <a:prstGeom prst="roundRect">
            <a:avLst>
              <a:gd fmla="val 4000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6294120" y="1481328"/>
            <a:ext cx="225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07A28"/>
                </a:solidFill>
                <a:latin typeface="Cambria"/>
                <a:ea typeface="Cambria"/>
                <a:cs typeface="Cambria"/>
                <a:sym typeface="Cambria"/>
              </a:rPr>
              <a:t>733 UF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294120" y="1993392"/>
            <a:ext cx="225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ticket validado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339840" y="228600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coherente con ERP de empresa mediana en Chile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11480" y="2926080"/>
            <a:ext cx="8321040" cy="1691640"/>
          </a:xfrm>
          <a:prstGeom prst="roundRect">
            <a:avLst>
              <a:gd fmla="val 3243" name="adj"/>
            </a:avLst>
          </a:prstGeom>
          <a:solidFill>
            <a:srgbClr val="163A2B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731520" y="3108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A86B"/>
                </a:solidFill>
                <a:latin typeface="Calibri"/>
                <a:ea typeface="Calibri"/>
                <a:cs typeface="Calibri"/>
                <a:sym typeface="Calibri"/>
              </a:rPr>
              <a:t>Perfil del cliente ideal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31520" y="3401568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E8D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8DF"/>
                </a:solidFill>
                <a:latin typeface="Calibri"/>
                <a:ea typeface="Calibri"/>
                <a:cs typeface="Calibri"/>
                <a:sym typeface="Calibri"/>
              </a:rPr>
              <a:t>Packing, frigorífico o distribuidor de insumos agrícolas de la cadena frutícola (cereza, uva, manzana). Ya tiene un ERP contable, pero gestiona la bodega en Excel. Su dolor más caro: el quiebre de stock en plena temporada de cosecha, cuando la fruta no espera.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31520" y="425196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3A3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CB3A3"/>
                </a:solidFill>
                <a:latin typeface="Calibri"/>
                <a:ea typeface="Calibri"/>
                <a:cs typeface="Calibri"/>
                <a:sym typeface="Calibri"/>
              </a:rPr>
              <a:t>Fuente: Estudio de mercado InventIA, septiembre 2026 — SII, INE, Ministerio de Economía.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Cobertura del ciclo de Ingeniería de Software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El proyecto abarca el ciclo completo de 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8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1264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128016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Fullstack y PWA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28016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Desarrollo con Next.js/React en esquema híbrido SSR/CSR.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0916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91032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57784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Arquitectura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57784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Despliegue en Google Cloud Run y Cloud Firestore/SQL, en la cuenta del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1148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1264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28016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Predicción de Demanda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28016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Modelos en Python (scikit-learn) ejecutados en batch nocturno para estimar demanda estacional.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70916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91032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557784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57784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Autenticación en Firebase Auth y roles de acceso (RBAC).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411480" y="36576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cloud-native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411480" y="75895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Cuatro capas desacopladas, desplegadas en la cuenta cloud del propio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080760" y="320040"/>
            <a:ext cx="2651760" cy="1234440"/>
          </a:xfrm>
          <a:prstGeom prst="roundRect">
            <a:avLst>
              <a:gd fmla="val 4444" name="adj"/>
            </a:avLst>
          </a:prstGeom>
          <a:solidFill>
            <a:srgbClr val="1C4A34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7086600" y="4572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7086600" y="457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6217920" y="10332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transversal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217920" y="129844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Firebase Auth + Roles (RBAC)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11480" y="1600200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57784" y="1719072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106424" y="166420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· PWA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06424" y="193852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Next.js / React — SSR/CSR híbrido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11480" y="2359152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57784" y="2478024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1106424" y="24231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· Cloud Run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106424" y="269748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Servicios desplegados de forma serverless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11480" y="3118104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57784" y="3236976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1106424" y="318211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· Firestore / Cloud 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106424" y="345643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Almacenamiento de inventario y movimientos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11480" y="3877056"/>
            <a:ext cx="5623560" cy="640080"/>
          </a:xfrm>
          <a:prstGeom prst="roundRect">
            <a:avLst>
              <a:gd fmla="val 7143" name="adj"/>
            </a:avLst>
          </a:prstGeom>
          <a:solidFill>
            <a:srgbClr val="1C4A34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557784" y="3995928"/>
            <a:ext cx="402336" cy="402336"/>
          </a:xfrm>
          <a:prstGeom prst="ellipse">
            <a:avLst/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1106424" y="394106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· Cloud Scheduler + Job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1106424" y="421538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Modelo scikit-learn, batch nocturno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login_crop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0983" y="1664208"/>
            <a:ext cx="1491314" cy="306324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177" name="Google Shape;177;p9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Pertinencia con el perfil de egreso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Competencias del plan de estudio abordadas en el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11480" y="13716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557784" y="14996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557784" y="14996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005840" y="14447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Gestión de Proyectos Informáticos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11480" y="20574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57784" y="21854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557784" y="2185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005840" y="21305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Análisis y Planificación de Requerimientos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11480" y="27432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57784" y="28712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557784" y="28712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005840" y="28163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Arquitectura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11480" y="34290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57784" y="35570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557784" y="35570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005840" y="35021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Programación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709160" y="13716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855464" y="14996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4855464" y="14996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5303520" y="14447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Análisis y Desarrollo de Modelo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09160" y="20574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855464" y="21854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4855464" y="21854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5303520" y="21305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Inteligencia de Negocios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709160" y="2743200"/>
            <a:ext cx="4023360" cy="566928"/>
          </a:xfrm>
          <a:prstGeom prst="roundRect">
            <a:avLst>
              <a:gd fmla="val 9677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855464" y="2871216"/>
            <a:ext cx="310896" cy="310896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4855464" y="287121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303520" y="2816352"/>
            <a:ext cx="3246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Calidad de Software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Dashboard de inventario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Vista principal para administradores y supervisores · insumos de packing de cereza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dashboard.png"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211" y="1051560"/>
            <a:ext cx="6221578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25" name="Google Shape;225;p11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Alertas y predicción de demanda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SKU en riesgo de quiebre y reposición sugerida por el modelo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alertas.png"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1211" y="1051560"/>
            <a:ext cx="6221578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36" name="Google Shape;236;p12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Historial y predicción por temporada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Comparación de temporadas anteriores y proyección de la próxima cosecha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temporadas.png"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344" y="1051560"/>
            <a:ext cx="5925312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47" name="Google Shape;247;p13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/>
        </p:nvSpPr>
        <p:spPr>
          <a:xfrm>
            <a:off x="411480" y="256032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411480" y="4572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App móvil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411480" y="8503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Login, búsqueda de productos y escaneo de código de barras en bodega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adri\AppData\Local\Temp\claude\C--Users-madri-Desktop-inventIA\0ab1074c-165d-4101-bfeb-0cd89184c817\scratchpad\mockups\mobile.png"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40" y="1051560"/>
            <a:ext cx="5760720" cy="370332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</p:pic>
      <p:sp>
        <p:nvSpPr>
          <p:cNvPr id="258" name="Google Shape;258;p14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Planificación general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Distribución de fases a lo largo del período académico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2148840" y="12344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Semana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5"/>
          <p:cNvCxnSpPr/>
          <p:nvPr/>
        </p:nvCxnSpPr>
        <p:spPr>
          <a:xfrm>
            <a:off x="2926080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5"/>
          <p:cNvSpPr txBox="1"/>
          <p:nvPr/>
        </p:nvSpPr>
        <p:spPr>
          <a:xfrm>
            <a:off x="2788920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5"/>
          <p:cNvCxnSpPr/>
          <p:nvPr/>
        </p:nvCxnSpPr>
        <p:spPr>
          <a:xfrm>
            <a:off x="3231682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 txBox="1"/>
          <p:nvPr/>
        </p:nvSpPr>
        <p:spPr>
          <a:xfrm>
            <a:off x="3094522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5"/>
          <p:cNvCxnSpPr/>
          <p:nvPr/>
        </p:nvCxnSpPr>
        <p:spPr>
          <a:xfrm>
            <a:off x="3842886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5"/>
          <p:cNvSpPr txBox="1"/>
          <p:nvPr/>
        </p:nvSpPr>
        <p:spPr>
          <a:xfrm>
            <a:off x="3705726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5"/>
          <p:cNvCxnSpPr/>
          <p:nvPr/>
        </p:nvCxnSpPr>
        <p:spPr>
          <a:xfrm>
            <a:off x="4454091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5"/>
          <p:cNvSpPr txBox="1"/>
          <p:nvPr/>
        </p:nvSpPr>
        <p:spPr>
          <a:xfrm>
            <a:off x="4264090" y="1207008"/>
            <a:ext cx="380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2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07A28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5"/>
          <p:cNvCxnSpPr/>
          <p:nvPr/>
        </p:nvCxnSpPr>
        <p:spPr>
          <a:xfrm>
            <a:off x="5065295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5"/>
          <p:cNvSpPr txBox="1"/>
          <p:nvPr/>
        </p:nvSpPr>
        <p:spPr>
          <a:xfrm>
            <a:off x="4928135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5"/>
          <p:cNvCxnSpPr/>
          <p:nvPr/>
        </p:nvCxnSpPr>
        <p:spPr>
          <a:xfrm>
            <a:off x="5676499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5"/>
          <p:cNvSpPr txBox="1"/>
          <p:nvPr/>
        </p:nvSpPr>
        <p:spPr>
          <a:xfrm>
            <a:off x="5539339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5"/>
          <p:cNvCxnSpPr/>
          <p:nvPr/>
        </p:nvCxnSpPr>
        <p:spPr>
          <a:xfrm>
            <a:off x="6287703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5"/>
          <p:cNvSpPr txBox="1"/>
          <p:nvPr/>
        </p:nvSpPr>
        <p:spPr>
          <a:xfrm>
            <a:off x="6150543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6898907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 txBox="1"/>
          <p:nvPr/>
        </p:nvSpPr>
        <p:spPr>
          <a:xfrm>
            <a:off x="6761747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5"/>
          <p:cNvCxnSpPr/>
          <p:nvPr/>
        </p:nvCxnSpPr>
        <p:spPr>
          <a:xfrm>
            <a:off x="7510112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5"/>
          <p:cNvSpPr txBox="1"/>
          <p:nvPr/>
        </p:nvSpPr>
        <p:spPr>
          <a:xfrm>
            <a:off x="7372952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5"/>
          <p:cNvCxnSpPr/>
          <p:nvPr/>
        </p:nvCxnSpPr>
        <p:spPr>
          <a:xfrm>
            <a:off x="8121316" y="1417320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5"/>
          <p:cNvSpPr txBox="1"/>
          <p:nvPr/>
        </p:nvSpPr>
        <p:spPr>
          <a:xfrm>
            <a:off x="7984156" y="12070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411480" y="15087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1 — Definición y diseño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11480" y="202082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2926080" y="1563624"/>
            <a:ext cx="1528010" cy="457200"/>
          </a:xfrm>
          <a:prstGeom prst="roundRect">
            <a:avLst>
              <a:gd fmla="val 10000" name="adj"/>
            </a:avLst>
          </a:prstGeom>
          <a:solidFill>
            <a:srgbClr val="3E6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2926080" y="1563624"/>
            <a:ext cx="15280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S1–S6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11480" y="256032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2 — Desarrollo e implementación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411480" y="307238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59692" y="2615184"/>
            <a:ext cx="2750420" cy="457200"/>
          </a:xfrm>
          <a:prstGeom prst="roundRect">
            <a:avLst>
              <a:gd fmla="val 10000" name="adj"/>
            </a:avLst>
          </a:prstGeom>
          <a:solidFill>
            <a:srgbClr val="7FA8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4759692" y="2615184"/>
            <a:ext cx="2750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S7–S16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11480" y="36118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1C262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620"/>
                </a:solidFill>
                <a:latin typeface="Calibri"/>
                <a:ea typeface="Calibri"/>
                <a:cs typeface="Calibri"/>
                <a:sym typeface="Calibri"/>
              </a:rPr>
              <a:t>Fase 3 — Integración, pruebas y entrega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11480" y="412394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Planificada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7510112" y="3666744"/>
            <a:ext cx="916806" cy="457200"/>
          </a:xfrm>
          <a:prstGeom prst="roundRect">
            <a:avLst>
              <a:gd fmla="val 10000" name="adj"/>
            </a:avLst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7510112" y="3666744"/>
            <a:ext cx="91680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S16–S19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5"/>
          <p:cNvCxnSpPr/>
          <p:nvPr/>
        </p:nvCxnSpPr>
        <p:spPr>
          <a:xfrm>
            <a:off x="4454090" y="1417320"/>
            <a:ext cx="0" cy="3017520"/>
          </a:xfrm>
          <a:prstGeom prst="straightConnector1">
            <a:avLst/>
          </a:prstGeom>
          <a:noFill/>
          <a:ln cap="flat" cmpd="sng" w="19050">
            <a:solidFill>
              <a:srgbClr val="E07A28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Estado actual y próximos pasos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114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F7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6858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Completado en esta fase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85800" y="1664208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10972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Antecedentes del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85800" y="2249424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6858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0972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Estudio de mercado y cliente objetivo (corredor Rancagua–Talca)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85800" y="2834640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6858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0972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Fundamentación: problema, contexto y usuarios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85800" y="3419856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6858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0972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Aporte de valor y pertinencia profesional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85800" y="4005072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68580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109728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Mockups de las secciones clave del producto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7548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50292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Pendiente para completar el documento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029200" y="1664208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50292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4406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Objetivos generales y específicos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029200" y="2249424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50292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54406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Evidencias de avance y entrega final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029200" y="2834640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50292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54406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Plan de trabajo detallado por actividad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029200" y="3419856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0292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54406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Carta Gantt definitiva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411480" y="329184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63A2B"/>
                </a:solidFill>
                <a:latin typeface="Cambria"/>
                <a:ea typeface="Cambria"/>
                <a:cs typeface="Cambria"/>
                <a:sym typeface="Cambria"/>
              </a:rPr>
              <a:t>Metodología de trabajo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Scrum simplificado, organizado en sprints alineados a las 3 fases del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8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1264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128016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Sprints iterativos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28016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Cada fase (Frontend/PWA, Backend/Cloud, Módulo ML) se trabaja en sprints cortos con planificación, desarrollo y revisión de avances.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09160" y="1371600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4910328" y="1682496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577840" y="1554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Priorización incremental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577840" y="18745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Primero autenticación y CRUD base, luego dashboard de KPIs, y al final el modelo de predicción de demanda.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1148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1264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28016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División por especialidad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28016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El equipo se organiza en Frontend/PWA, Backend/Cloud y Machine Learning, según la fortaleza de cada integrante.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709160" y="2871216"/>
            <a:ext cx="4023360" cy="1298448"/>
          </a:xfrm>
          <a:prstGeom prst="roundRect">
            <a:avLst>
              <a:gd fmla="val 4225" name="adj"/>
            </a:avLst>
          </a:prstGeom>
          <a:solidFill>
            <a:srgbClr val="F4F7F2"/>
          </a:solidFill>
          <a:ln cap="flat" cmpd="sng" w="9525">
            <a:solidFill>
              <a:srgbClr val="DFE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8C9A8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910328" y="3182112"/>
            <a:ext cx="502920" cy="502920"/>
          </a:xfrm>
          <a:prstGeom prst="ellipse">
            <a:avLst/>
          </a:prstGeom>
          <a:solidFill>
            <a:srgbClr val="163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5577840" y="305409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A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3A2B"/>
                </a:solidFill>
                <a:latin typeface="Calibri"/>
                <a:ea typeface="Calibri"/>
                <a:cs typeface="Calibri"/>
                <a:sym typeface="Calibri"/>
              </a:rPr>
              <a:t>Seguimiento continuo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5577840" y="337413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Reuniones breves de coordinación semanal para revisar avances, riesgos y reordenar prioridades.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A2B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Alcance del proyecto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114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F7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6858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Incluye en el MVP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85800" y="1664208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6858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10972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Control de inventario en tiempo real (CRUD)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685800" y="2249424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6858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0972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Predicción de demanda por temporada (Machine Learning)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85800" y="2834640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6858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 txBox="1"/>
          <p:nvPr/>
        </p:nvSpPr>
        <p:spPr>
          <a:xfrm>
            <a:off x="10972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Roles y permisos (RBAC): administrador, supervisor, operador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85800" y="3419856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6858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10972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Dashboard de KPIs y alertas de reposición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85800" y="4005072"/>
            <a:ext cx="292608" cy="292608"/>
          </a:xfrm>
          <a:prstGeom prst="ellipse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68580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D3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D39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109728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PWA instalable, multiplataforma, con soporte offline parcial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754880" y="1005840"/>
            <a:ext cx="4069080" cy="3657600"/>
          </a:xfrm>
          <a:prstGeom prst="roundRect">
            <a:avLst>
              <a:gd fmla="val 1500" name="adj"/>
            </a:avLst>
          </a:prstGeom>
          <a:solidFill>
            <a:srgbClr val="1A3D2C"/>
          </a:solidFill>
          <a:ln cap="flat" cmpd="sng" w="12700">
            <a:solidFill>
              <a:srgbClr val="2E5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5029200" y="12070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B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9DCBB"/>
                </a:solidFill>
                <a:latin typeface="Calibri"/>
                <a:ea typeface="Calibri"/>
                <a:cs typeface="Calibri"/>
                <a:sym typeface="Calibri"/>
              </a:rPr>
              <a:t>Fuera de alcance por ahora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029200" y="1664208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50292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5440680" y="1636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Integración directa con ERPs existentes del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029200" y="2249424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5029200" y="2249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544068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Gestión de múltiples bodegas o sucursales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029200" y="2834640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5029200" y="2834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5440680" y="280720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Facturación electrónica y módulo contable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029200" y="3419856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029200" y="3419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5440680" y="339242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Aplicación nativa iOS/Android (fuera de la PWA)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5029200" y="4005072"/>
            <a:ext cx="292608" cy="292608"/>
          </a:xfrm>
          <a:prstGeom prst="ellipse">
            <a:avLst/>
          </a:prstGeom>
          <a:solidFill>
            <a:srgbClr val="2E5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502920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5440680" y="39776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D9E6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9E6DC"/>
                </a:solidFill>
                <a:latin typeface="Calibri"/>
                <a:ea typeface="Calibri"/>
                <a:cs typeface="Calibri"/>
                <a:sym typeface="Calibri"/>
              </a:rPr>
              <a:t>Módulo de modelado 2D interactivo de la bodega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411480" y="483260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InventIA — Predicción de demanda por temporada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8366760" y="483260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